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3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DCDE-0DB4-B227-5588-FF8D6147F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E7181-3008-D9F9-35A2-823128527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39962-28B0-2FE1-8BE9-64D1BE258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3278D-54A3-7B11-D7C0-DC2EE01A6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C7BD7-9B7D-7349-C2D2-795323C0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30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A030-60B2-E4C5-8E12-9E6B4871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2009E-2E5A-8A9F-25A8-BBD8B9B59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C556F-6BA7-B4D3-6F24-6F8DE22E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C9EDF-B43A-2936-DF3C-D4C51946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E8D15-BC86-187A-7A4C-98EF14DFD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7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6104-2156-31CA-AE40-1592D179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703FD-F5BB-116A-24F8-5202012B3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BC577-EE85-42E3-5C6D-59731C32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305A8-5D4F-A178-D217-BE4C73C2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5FD45-AD48-12ED-3C3E-29FB936CA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7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B904-33A8-0683-8A27-2EDB2A23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38E73-6418-7FE6-757A-EFCA63134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3B14B-05EB-0186-DF7A-0744B44E9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C7A1E-7504-41E4-CFD6-9F7FDACF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68A11-FDC7-5B5A-DA24-3BF240E22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B888F-E72F-D0BC-C868-FB8AC520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F5E52-3E7A-3073-C44C-E8C5A0A25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CCF72-4EAF-DAF3-83A2-46CAD289B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AE5E0-251D-0D81-A3DA-28C0BC529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8698F8-B472-8A1A-87A7-0B22F553C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B22AE-D504-D241-1E84-5F39E76A01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5686A5-4181-9714-14CD-F56C4B1EA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F032AB-1BD8-ECE7-AA7D-D4A39CDB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9B9F4-4CE4-1D16-63F7-8EC6C5A1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2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F638-6EBB-B06A-835F-7F1AD8384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D5011-1DB4-ADBE-3215-5C88AF36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37F7D-56D8-FF96-B71C-EC6BED5A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AC029-DB4D-BE8D-FB12-DE66D2A27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8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5FA6E-EF42-E309-9588-DB82654D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0AEDE-2CA9-12E4-2FA3-ED3A5D3B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31709-1398-96C7-D81F-A573A7D9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73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2A250-9629-9F06-C09A-EEBC7F82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44E2C-E5F8-3336-DA50-449CB0D19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993A2-29A3-026C-716C-706EA4443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E9A1C-B6DC-0FE1-C226-DED5E444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D8295-7921-79D0-EA5B-5AE6C949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B2AAF-20FC-BA90-B805-1E4E1FDB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3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DCDB7-C09D-0578-D7BE-E80A051BB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5BFE2F-EDB8-D4A9-2121-D6145ED9B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B6BFF-ACB0-9FC2-D903-A79944D1B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4BA48-2BB6-7E15-C375-61A9386A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1E847-46D6-F1EF-DC2C-AFD1C7C8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2705B-1289-3181-FC9B-32AC3C40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6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6FFF9-CE8F-DF9C-229E-F65CFE991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785E6-32DD-FBCD-4A5D-E492C4017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6AA02-5FA9-47DD-231F-C3E7064A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57756-934E-35BC-D211-C101A94EC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38603-586C-CDBC-77DF-383C34C21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38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122AB-9D11-F8A3-4CE0-EFF26EF86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5C06F-4056-A7B0-1947-898880311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70609-5398-BA64-8CD9-55C510E3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6B7A1-8526-9FB1-FBE0-5DB8B3FD8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BA9E2-7D13-0E63-D5E0-794ECC04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8949C6-D564-278C-D6A8-1FEAD8B71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4DA14-7246-E1B7-4D7B-A050DFF54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C03BD-9A33-CB7C-1893-FA4048012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8EB52-DFEB-4740-969C-5F8ACD87BD0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CCBA0-2766-9701-3E24-6D3FCACB4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7F8D8-5661-AD4F-8BF0-3C02864A9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9344E-757D-2A47-948E-83438812E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6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DBB7C8-8673-C2B6-DB64-041D136D16F7}"/>
              </a:ext>
            </a:extLst>
          </p:cNvPr>
          <p:cNvSpPr txBox="1"/>
          <p:nvPr/>
        </p:nvSpPr>
        <p:spPr>
          <a:xfrm>
            <a:off x="3668208" y="0"/>
            <a:ext cx="4855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MNAR Performance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8856F0-C2F4-9CCF-FE9D-D6D1C50E0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052482"/>
              </p:ext>
            </p:extLst>
          </p:nvPr>
        </p:nvGraphicFramePr>
        <p:xfrm>
          <a:off x="193040" y="892815"/>
          <a:ext cx="7670800" cy="1912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120">
                  <a:extLst>
                    <a:ext uri="{9D8B030D-6E8A-4147-A177-3AD203B41FA5}">
                      <a16:colId xmlns:a16="http://schemas.microsoft.com/office/drawing/2014/main" val="4266316161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373206324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136995163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59387978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75577049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311841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Metric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LOCF</a:t>
                      </a:r>
                      <a:endParaRPr lang="en-US" sz="3200" b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MAR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MNAR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improvement (LOCF </a:t>
                      </a: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MAR) ⬇️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improvement (MAR </a:t>
                      </a: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sym typeface="Wingdings" pitchFamily="2" charset="2"/>
                        </a:rPr>
                        <a:t> </a:t>
                      </a: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MNAR) ⬇️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420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Impute (MSE)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49.29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17.57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16.89</a:t>
                      </a:r>
                      <a:endParaRPr lang="en-US" sz="3200" b="1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64.35%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3.85%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154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1-Step Forecast (MSE)</a:t>
                      </a:r>
                      <a:endParaRPr lang="en-US" sz="3200" b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61.78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18.40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18.01</a:t>
                      </a:r>
                      <a:endParaRPr lang="en-US" sz="3200" b="1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70.21%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2.12%</a:t>
                      </a:r>
                      <a:endParaRPr lang="en-US" sz="3200" b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569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3-Step Forecast (MSE)</a:t>
                      </a:r>
                      <a:endParaRPr lang="en-US" sz="3200" b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71.66</a:t>
                      </a:r>
                      <a:endParaRPr lang="en-US" sz="3200" b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18.04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17.52</a:t>
                      </a:r>
                      <a:endParaRPr lang="en-US" sz="3200" b="1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74.82%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2.85%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93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6-Step Forecast (MSE)</a:t>
                      </a:r>
                      <a:endParaRPr lang="en-US" sz="3200" b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79.95</a:t>
                      </a:r>
                      <a:endParaRPr lang="en-US" sz="3200" b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26.70</a:t>
                      </a:r>
                      <a:endParaRPr lang="en-US" sz="3200" b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25.82</a:t>
                      </a:r>
                      <a:endParaRPr lang="en-US" sz="3200" b="1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67.39%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3.29%</a:t>
                      </a:r>
                      <a:endParaRPr lang="en-US" sz="3200" b="0" dirty="0">
                        <a:effectLst/>
                      </a:endParaRPr>
                    </a:p>
                  </a:txBody>
                  <a:tcPr marL="95250" marR="95250" marT="95250" marB="952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245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B32A1D9-31AD-9C14-4D08-CAC16AD9EFBE}"/>
              </a:ext>
            </a:extLst>
          </p:cNvPr>
          <p:cNvSpPr txBox="1"/>
          <p:nvPr/>
        </p:nvSpPr>
        <p:spPr>
          <a:xfrm>
            <a:off x="2752465" y="554129"/>
            <a:ext cx="2399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A. Summary Statistics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760B2-15AE-508B-4185-1781CE59E3A2}"/>
              </a:ext>
            </a:extLst>
          </p:cNvPr>
          <p:cNvSpPr txBox="1"/>
          <p:nvPr/>
        </p:nvSpPr>
        <p:spPr>
          <a:xfrm>
            <a:off x="193040" y="2913993"/>
            <a:ext cx="7670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Key Findings: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200" b="1" dirty="0"/>
              <a:t>STATE SPACE MODELING IS CRITICAL</a:t>
            </a:r>
            <a:r>
              <a:rPr lang="en-US" sz="1200" dirty="0"/>
              <a:t>: The transition from LOCF to MAR LDS yields  </a:t>
            </a:r>
            <a:r>
              <a:rPr lang="en-US" sz="1200" b="1" dirty="0"/>
              <a:t>~70% reduction </a:t>
            </a:r>
            <a:r>
              <a:rPr lang="en-US" sz="1200" dirty="0"/>
              <a:t>in MSE across all tasks. This demonstrates that capturing temporal dynamics through latent state representation is far more important than naïve forward imputation.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200" b="1" dirty="0"/>
              <a:t>MNAR PROVIDES CONSISTENT REFINEMENT</a:t>
            </a:r>
            <a:r>
              <a:rPr lang="en-US" sz="1200" dirty="0"/>
              <a:t>: The additional </a:t>
            </a:r>
            <a:r>
              <a:rPr lang="en-US" sz="1200" b="1" dirty="0"/>
              <a:t>~2-4% reduction in MSE </a:t>
            </a:r>
            <a:r>
              <a:rPr lang="en-US" sz="1200" dirty="0"/>
              <a:t>from MAR to MNAR, while modest, is consistent across all metrics and horizons. This suggests the missingness mechanism carries some predictive signal.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200" b="1" dirty="0"/>
              <a:t>MISSINGNESS IS WEAKLY INFORMATIVE</a:t>
            </a:r>
            <a:r>
              <a:rPr lang="en-US" sz="1200" dirty="0"/>
              <a:t>: The small MAR </a:t>
            </a:r>
            <a:r>
              <a:rPr lang="en-US" sz="1200" dirty="0">
                <a:sym typeface="Wingdings" pitchFamily="2" charset="2"/>
              </a:rPr>
              <a:t> MNAR gap indicates that in this traffic dataset, blackouts are largely infrastructure-driven (sensor failures, maintenance) rather than state-dependent (congestion-induced). </a:t>
            </a:r>
            <a:r>
              <a:rPr lang="en-US" sz="1200" b="1" i="1" dirty="0">
                <a:sym typeface="Wingdings" pitchFamily="2" charset="2"/>
              </a:rPr>
              <a:t>Therefore, in domains where data loss correlates more strongly with the underlying state, larger MNAR benefits are expected.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200" b="1" dirty="0">
                <a:sym typeface="Wingdings" pitchFamily="2" charset="2"/>
              </a:rPr>
              <a:t>BIAS-VARIANCE TRADEOFF AT HORIZON STEP = 3</a:t>
            </a:r>
            <a:r>
              <a:rPr lang="en-US" sz="1200" dirty="0">
                <a:sym typeface="Wingdings" pitchFamily="2" charset="2"/>
              </a:rPr>
              <a:t>: We observed non-monotonic MSE with respect to horizon, with 3-step forecasts outperforming 1-step forecasts. We attribute this to the bias-variance tradeoff when forecasting from blackout endpoints: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the filtered state at blackout termination carries estimation bias due to prolonged missing observations, which the learned dynamics progressively correct at intermediate horizons before variance accumulation dominates at longer horizons.</a:t>
            </a:r>
            <a:endParaRPr lang="en-US" sz="1200" b="0" i="0" u="none" strike="noStrike" dirty="0">
              <a:solidFill>
                <a:srgbClr val="000000"/>
              </a:solidFill>
              <a:effectLst/>
              <a:sym typeface="Wingdings" pitchFamily="2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000000"/>
                </a:solidFill>
                <a:sym typeface="Wingdings" pitchFamily="2" charset="2"/>
              </a:rPr>
              <a:t>MONOTONOUS INCREASE OF DATA LOG-LIKELIHOOD</a:t>
            </a:r>
            <a:r>
              <a:rPr lang="en-US" sz="1200" dirty="0">
                <a:solidFill>
                  <a:srgbClr val="000000"/>
                </a:solidFill>
                <a:sym typeface="Wingdings" pitchFamily="2" charset="2"/>
              </a:rPr>
              <a:t>: The visualization indicates that the model confirms proper EM convergence. The MNAR model consistently achieves higher log-likelihood than MAR which shows that modelling missingness explicitly provides better and reliable fit to the observed data.</a:t>
            </a:r>
            <a:endParaRPr lang="en-US" sz="1200" b="1" dirty="0">
              <a:sym typeface="Wingdings" pitchFamily="2" charset="2"/>
            </a:endParaRPr>
          </a:p>
        </p:txBody>
      </p:sp>
      <p:pic>
        <p:nvPicPr>
          <p:cNvPr id="9" name="Picture 8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12425DA4-5F57-B04B-E90E-B5D5CE3B0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840" y="892816"/>
            <a:ext cx="3281680" cy="23926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145EF6-225A-1598-476F-BA9AA189B75F}"/>
              </a:ext>
            </a:extLst>
          </p:cNvPr>
          <p:cNvSpPr txBox="1"/>
          <p:nvPr/>
        </p:nvSpPr>
        <p:spPr>
          <a:xfrm>
            <a:off x="9066904" y="558760"/>
            <a:ext cx="2399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B. Forecast MSE by Horizon </a:t>
            </a:r>
          </a:p>
        </p:txBody>
      </p:sp>
      <p:pic>
        <p:nvPicPr>
          <p:cNvPr id="13" name="Picture 12" descr="A graph with numbers and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FC24C21B-16AD-F71C-2BC2-FAEF8A672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160" y="3965809"/>
            <a:ext cx="4069080" cy="24414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76D45B-68B4-5019-29AE-2E522161CB87}"/>
              </a:ext>
            </a:extLst>
          </p:cNvPr>
          <p:cNvSpPr txBox="1"/>
          <p:nvPr/>
        </p:nvSpPr>
        <p:spPr>
          <a:xfrm>
            <a:off x="8845924" y="3589010"/>
            <a:ext cx="2399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C. Log-Likelihood Evolution</a:t>
            </a:r>
          </a:p>
        </p:txBody>
      </p:sp>
    </p:spTree>
    <p:extLst>
      <p:ext uri="{BB962C8B-B14F-4D97-AF65-F5344CB8AC3E}">
        <p14:creationId xmlns:p14="http://schemas.microsoft.com/office/powerpoint/2010/main" val="121968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335</Words>
  <Application>Microsoft Macintosh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Siddarth Nilol</dc:creator>
  <cp:lastModifiedBy>Siddarth Nilol</cp:lastModifiedBy>
  <cp:revision>1</cp:revision>
  <dcterms:created xsi:type="dcterms:W3CDTF">2025-12-10T04:40:11Z</dcterms:created>
  <dcterms:modified xsi:type="dcterms:W3CDTF">2025-12-10T06:16:16Z</dcterms:modified>
</cp:coreProperties>
</file>